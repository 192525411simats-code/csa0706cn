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9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743200" cy="2743200"/>
          </a:xfrm>
          <a:prstGeom prst="ellipse">
            <a:avLst/>
          </a:prstGeom>
          <a:solidFill>
            <a:srgbClr val="2FBF9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Small Network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Measuring Its Performance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3127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05271-3305-0990-0856-3DD3FA854A79}"/>
              </a:ext>
            </a:extLst>
          </p:cNvPr>
          <p:cNvSpPr txBox="1"/>
          <p:nvPr/>
        </p:nvSpPr>
        <p:spPr>
          <a:xfrm>
            <a:off x="576650" y="4981694"/>
            <a:ext cx="3657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PRESENTED BY</a:t>
            </a:r>
          </a:p>
          <a:p>
            <a:r>
              <a:rPr lang="en-IN" dirty="0">
                <a:solidFill>
                  <a:schemeClr val="bg1"/>
                </a:solidFill>
              </a:rPr>
              <a:t>MANIYAM ANUSHKA(192525411)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CD388-874E-894B-CDA4-097C93053D0C}"/>
              </a:ext>
            </a:extLst>
          </p:cNvPr>
          <p:cNvSpPr txBox="1"/>
          <p:nvPr/>
        </p:nvSpPr>
        <p:spPr>
          <a:xfrm>
            <a:off x="9160476" y="4981694"/>
            <a:ext cx="1664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GUIDED BY</a:t>
            </a:r>
          </a:p>
          <a:p>
            <a:r>
              <a:rPr lang="en-IN" dirty="0" err="1">
                <a:solidFill>
                  <a:schemeClr val="bg1"/>
                </a:solidFill>
              </a:rPr>
              <a:t>Dr.V</a:t>
            </a:r>
            <a:r>
              <a:rPr lang="en-IN" dirty="0">
                <a:solidFill>
                  <a:schemeClr val="bg1"/>
                </a:solidFill>
              </a:rPr>
              <a:t> PARTHIPAN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Will Answer This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step-by-step plan for the interview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26030" cy="356616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5895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45895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068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small network — devices, connections, and topology.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4710" y="1920240"/>
            <a:ext cx="2526030" cy="356616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1965" y="22860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291965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80" dirty="0"/>
          </a:p>
        </p:txBody>
      </p:sp>
      <p:sp>
        <p:nvSpPr>
          <p:cNvPr id="12" name="Text 10"/>
          <p:cNvSpPr/>
          <p:nvPr/>
        </p:nvSpPr>
        <p:spPr>
          <a:xfrm>
            <a:off x="3623310" y="3291840"/>
            <a:ext cx="2068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Metrics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23310" y="379476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key performance metrics to measure.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0780" y="1920240"/>
            <a:ext cx="2526030" cy="356616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8035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8035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80" dirty="0"/>
          </a:p>
        </p:txBody>
      </p:sp>
      <p:sp>
        <p:nvSpPr>
          <p:cNvPr id="17" name="Text 15"/>
          <p:cNvSpPr/>
          <p:nvPr/>
        </p:nvSpPr>
        <p:spPr>
          <a:xfrm>
            <a:off x="6469380" y="3291840"/>
            <a:ext cx="2068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69380" y="379476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tools and method used to test each metric.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86850" y="1920240"/>
            <a:ext cx="2526030" cy="356616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4105" y="22860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984105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80" dirty="0"/>
          </a:p>
        </p:txBody>
      </p:sp>
      <p:sp>
        <p:nvSpPr>
          <p:cNvPr id="22" name="Text 20"/>
          <p:cNvSpPr/>
          <p:nvPr/>
        </p:nvSpPr>
        <p:spPr>
          <a:xfrm>
            <a:off x="9315450" y="3291840"/>
            <a:ext cx="2068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15450" y="379476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what the results tell us about the network.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Small Network I Designed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topology — simple to build, easy to manage, and easy to test in Packet Tracer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4E8"/>
            </a:solidFill>
            <a:prstDash val="solid"/>
          </a:ln>
          <a:effectLst>
            <a:outerShdw blurRad="101600" dist="38100" dir="5400000" algn="bl" rotWithShape="0">
              <a:srgbClr val="365B6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03320" y="3429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70332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15468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Switch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514600"/>
            <a:ext cx="2377440" cy="1371600"/>
          </a:xfrm>
          <a:prstGeom prst="line">
            <a:avLst/>
          </a:prstGeom>
          <a:noFill/>
          <a:ln w="25400">
            <a:solidFill>
              <a:srgbClr val="9FC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2514600"/>
            <a:ext cx="2377440" cy="1371600"/>
          </a:xfrm>
          <a:prstGeom prst="line">
            <a:avLst/>
          </a:prstGeom>
          <a:noFill/>
          <a:ln w="25400">
            <a:solidFill>
              <a:srgbClr val="9FC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3886200"/>
            <a:ext cx="2377440" cy="1463040"/>
          </a:xfrm>
          <a:prstGeom prst="line">
            <a:avLst/>
          </a:prstGeom>
          <a:noFill/>
          <a:ln w="25400">
            <a:solidFill>
              <a:srgbClr val="9FC6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3886200"/>
            <a:ext cx="2377440" cy="1463040"/>
          </a:xfrm>
          <a:prstGeom prst="line">
            <a:avLst/>
          </a:prstGeom>
          <a:noFill/>
          <a:ln w="25400">
            <a:solidFill>
              <a:srgbClr val="9FC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057400"/>
            <a:ext cx="0" cy="1828800"/>
          </a:xfrm>
          <a:prstGeom prst="line">
            <a:avLst/>
          </a:prstGeom>
          <a:noFill/>
          <a:ln w="25400">
            <a:solidFill>
              <a:srgbClr val="9FC6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2080" dirty="0"/>
          </a:p>
        </p:txBody>
      </p:sp>
      <p:sp>
        <p:nvSpPr>
          <p:cNvPr id="15" name="Text 13"/>
          <p:cNvSpPr/>
          <p:nvPr/>
        </p:nvSpPr>
        <p:spPr>
          <a:xfrm>
            <a:off x="868680" y="2898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5623560" y="2898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417320" y="49834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4983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2080" dirty="0"/>
          </a:p>
        </p:txBody>
      </p:sp>
      <p:sp>
        <p:nvSpPr>
          <p:cNvPr id="21" name="Text 19"/>
          <p:cNvSpPr/>
          <p:nvPr/>
        </p:nvSpPr>
        <p:spPr>
          <a:xfrm>
            <a:off x="868680" y="5733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9834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4983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</a:t>
            </a:r>
            <a:endParaRPr lang="en-US" sz="2080" dirty="0"/>
          </a:p>
        </p:txBody>
      </p:sp>
      <p:sp>
        <p:nvSpPr>
          <p:cNvPr id="24" name="Text 22"/>
          <p:cNvSpPr/>
          <p:nvPr/>
        </p:nvSpPr>
        <p:spPr>
          <a:xfrm>
            <a:off x="5623560" y="5733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94760" y="1691640"/>
            <a:ext cx="731520" cy="731520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80" dirty="0"/>
          </a:p>
        </p:txBody>
      </p:sp>
      <p:sp>
        <p:nvSpPr>
          <p:cNvPr id="27" name="Text 25"/>
          <p:cNvSpPr/>
          <p:nvPr/>
        </p:nvSpPr>
        <p:spPr>
          <a:xfrm>
            <a:off x="324612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Components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863840" y="2176272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PCs + 1 Laptop: </a:t>
            </a: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devices that send and receive data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63840" y="2743200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2624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Server: </a:t>
            </a: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files/services used by the PCs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63840" y="3310128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319125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Switch: </a:t>
            </a: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local devices together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863840" y="3877056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37581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Router: </a:t>
            </a: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local network to the Internet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863840" y="4443984"/>
            <a:ext cx="128016" cy="128016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43251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 Star: </a:t>
            </a: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links to one central point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Chose This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4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to Build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9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topology is easy to set up and understand — good for a small office or lab.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463040"/>
            <a:ext cx="344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7868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786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4632960" y="2514600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Manage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2960" y="2926080"/>
            <a:ext cx="289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device fails, the rest of the network keeps working normally.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8640" y="1463040"/>
            <a:ext cx="344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65B6D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88680" y="178308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4886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8442960" y="2514600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Test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2960" y="2926080"/>
            <a:ext cx="289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supports this layout well, so I can simulate real traffic easily.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network real enough to generate meaningful traffic, so the performance metrics I measure actually mean something.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Key 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metrics tell us how well the network is really performing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365B6D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144475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16276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data delivered successfully per second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6352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365B6D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53512" y="1828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(Latency)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90672" y="2697480"/>
            <a:ext cx="144475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880360"/>
            <a:ext cx="16276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for data to travel from source to destination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4064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365B6D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21224" y="1828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58384" y="2697480"/>
            <a:ext cx="144475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880360"/>
            <a:ext cx="16276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delay between packets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51776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365B6D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88936" y="1828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Loss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6096" y="2697480"/>
            <a:ext cx="144475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2880360"/>
            <a:ext cx="16276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packets that never arrive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19488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365B6D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6648" y="18288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 Use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893808" y="2697480"/>
            <a:ext cx="144475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2880360"/>
            <a:ext cx="16276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available capacity is actually used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How I Will Measure Each Metric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417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Method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87452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large file between PC and Server; check data received per second in Packet Tracer's stats window.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0881360" cy="841248"/>
          </a:xfrm>
          <a:prstGeom prst="rect">
            <a:avLst/>
          </a:prstGeom>
          <a:solidFill>
            <a:srgbClr val="E9F1F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1576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2715768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“ping” command and read the round-trip time (RTT) shown in the response.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57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3557016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continuous stream (e.g., simulated VoIP/video); compare delay differences between packets.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98264"/>
            <a:ext cx="10881360" cy="841248"/>
          </a:xfrm>
          <a:prstGeom prst="rect">
            <a:avLst/>
          </a:prstGeom>
          <a:solidFill>
            <a:srgbClr val="E9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9826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0" y="4398264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ping with multiple packets; count how many replies are missing out of the total sent.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39512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39512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523951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actual data transferred against the link's rated capacity during simulation.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I Will 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721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365B6D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80" dirty="0"/>
          </a:p>
        </p:txBody>
      </p:sp>
      <p:sp>
        <p:nvSpPr>
          <p:cNvPr id="6" name="Text 4"/>
          <p:cNvSpPr/>
          <p:nvPr/>
        </p:nvSpPr>
        <p:spPr>
          <a:xfrm>
            <a:off x="1737360" y="1664208"/>
            <a:ext cx="39090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Packet Tracer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084832"/>
            <a:ext cx="39090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topology, run simulation mode, and view real-time statistics.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463040"/>
            <a:ext cx="53721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365B6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510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151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80" dirty="0"/>
          </a:p>
        </p:txBody>
      </p:sp>
      <p:sp>
        <p:nvSpPr>
          <p:cNvPr id="11" name="Text 9"/>
          <p:cNvSpPr/>
          <p:nvPr/>
        </p:nvSpPr>
        <p:spPr>
          <a:xfrm>
            <a:off x="7429500" y="1664208"/>
            <a:ext cx="39090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Panel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29500" y="2084832"/>
            <a:ext cx="39090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packets travel hop-by-hop between devices to spot delay sources.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721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365B6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7490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80" dirty="0"/>
          </a:p>
        </p:txBody>
      </p:sp>
      <p:sp>
        <p:nvSpPr>
          <p:cNvPr id="16" name="Text 14"/>
          <p:cNvSpPr/>
          <p:nvPr/>
        </p:nvSpPr>
        <p:spPr>
          <a:xfrm>
            <a:off x="1737360" y="3538728"/>
            <a:ext cx="39090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 / Command 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959352"/>
            <a:ext cx="39090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delay (RTT) and packet loss directly from the device terminal.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0780" y="3337560"/>
            <a:ext cx="53721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365B6D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5100" y="3749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51510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80" dirty="0"/>
          </a:p>
        </p:txBody>
      </p:sp>
      <p:sp>
        <p:nvSpPr>
          <p:cNvPr id="21" name="Text 19"/>
          <p:cNvSpPr/>
          <p:nvPr/>
        </p:nvSpPr>
        <p:spPr>
          <a:xfrm>
            <a:off x="7429500" y="3538728"/>
            <a:ext cx="39090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 &amp; Graphs 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9500" y="3959352"/>
            <a:ext cx="39090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throughput and bandwidth usage before and after changes.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Sample Result From My Simulation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numbers I might present after testing the network above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4803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4803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0430" y="173736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0430" y="2057400"/>
            <a:ext cx="24803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40430" y="3108960"/>
            <a:ext cx="24803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0780" y="173736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0780" y="2057400"/>
            <a:ext cx="24803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40780" y="3108960"/>
            <a:ext cx="24803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41130" y="1737360"/>
            <a:ext cx="2480310" cy="2377440"/>
          </a:xfrm>
          <a:prstGeom prst="roundRect">
            <a:avLst>
              <a:gd name="adj" fmla="val 4615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1130" y="2057400"/>
            <a:ext cx="24803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Mbps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41130" y="3108960"/>
            <a:ext cx="24803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healthy values for a small office network — low delay, very little loss, and stable jitter.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3852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designed a small star-topology network with PCs, a laptop, a server, a switch, and a router.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62072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157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identified five key metrics: throughput, delay, jitter, packet loss, and bandwidth 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39312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9300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measured them using Packet Tracer's simulation tools, ping, and the statistics view.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16552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7024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help me judge if the network is fast, reliable, and ready for real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660</Words>
  <Application>Microsoft Office PowerPoint</Application>
  <PresentationFormat>Widescreen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anushka maniyam</cp:lastModifiedBy>
  <cp:revision>2</cp:revision>
  <dcterms:created xsi:type="dcterms:W3CDTF">2026-08-25T02:52:45Z</dcterms:created>
  <dcterms:modified xsi:type="dcterms:W3CDTF">2026-08-25T03:00:53Z</dcterms:modified>
</cp:coreProperties>
</file>